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1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6"/>
        <a:ea typeface="ヒラギノ角ゴ ProN W6"/>
        <a:cs typeface="ヒラギノ角ゴ ProN W6"/>
        <a:sym typeface="ヒラギノ角ゴ ProN W6"/>
      </a:defRPr>
    </a:lvl1pPr>
    <a:lvl2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1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6"/>
        <a:ea typeface="ヒラギノ角ゴ ProN W6"/>
        <a:cs typeface="ヒラギノ角ゴ ProN W6"/>
        <a:sym typeface="ヒラギノ角ゴ ProN W6"/>
      </a:defRPr>
    </a:lvl2pPr>
    <a:lvl3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1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6"/>
        <a:ea typeface="ヒラギノ角ゴ ProN W6"/>
        <a:cs typeface="ヒラギノ角ゴ ProN W6"/>
        <a:sym typeface="ヒラギノ角ゴ ProN W6"/>
      </a:defRPr>
    </a:lvl3pPr>
    <a:lvl4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1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6"/>
        <a:ea typeface="ヒラギノ角ゴ ProN W6"/>
        <a:cs typeface="ヒラギノ角ゴ ProN W6"/>
        <a:sym typeface="ヒラギノ角ゴ ProN W6"/>
      </a:defRPr>
    </a:lvl4pPr>
    <a:lvl5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1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6"/>
        <a:ea typeface="ヒラギノ角ゴ ProN W6"/>
        <a:cs typeface="ヒラギノ角ゴ ProN W6"/>
        <a:sym typeface="ヒラギノ角ゴ ProN W6"/>
      </a:defRPr>
    </a:lvl5pPr>
    <a:lvl6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1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6"/>
        <a:ea typeface="ヒラギノ角ゴ ProN W6"/>
        <a:cs typeface="ヒラギノ角ゴ ProN W6"/>
        <a:sym typeface="ヒラギノ角ゴ ProN W6"/>
      </a:defRPr>
    </a:lvl6pPr>
    <a:lvl7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1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6"/>
        <a:ea typeface="ヒラギノ角ゴ ProN W6"/>
        <a:cs typeface="ヒラギノ角ゴ ProN W6"/>
        <a:sym typeface="ヒラギノ角ゴ ProN W6"/>
      </a:defRPr>
    </a:lvl7pPr>
    <a:lvl8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1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6"/>
        <a:ea typeface="ヒラギノ角ゴ ProN W6"/>
        <a:cs typeface="ヒラギノ角ゴ ProN W6"/>
        <a:sym typeface="ヒラギノ角ゴ ProN W6"/>
      </a:defRPr>
    </a:lvl8pPr>
    <a:lvl9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1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6"/>
        <a:ea typeface="ヒラギノ角ゴ ProN W6"/>
        <a:cs typeface="ヒラギノ角ゴ ProN W6"/>
        <a:sym typeface="ヒラギノ角ゴ ProN W6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n" i="off">
        <a:font>
          <a:latin typeface="ヒラギノ角ゴ ProN W6"/>
          <a:ea typeface="ヒラギノ角ゴ ProN W6"/>
          <a:cs typeface="ヒラギノ角ゴ ProN W6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 b="def" i="def"/>
      <a:tcStyle>
        <a:tcBdr/>
        <a:fill>
          <a:solidFill>
            <a:srgbClr val="E6F0FF"/>
          </a:solidFill>
        </a:fill>
      </a:tcStyle>
    </a:band2H>
    <a:firstCol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n" i="off">
        <a:font>
          <a:latin typeface="ヒラギノ角ゴ ProN W6"/>
          <a:ea typeface="ヒラギノ角ゴ ProN W6"/>
          <a:cs typeface="ヒラギノ角ゴ ProN W6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 b="def" i="def"/>
      <a:tcStyle>
        <a:tcBdr/>
        <a:fill>
          <a:solidFill>
            <a:srgbClr val="EAF8E7"/>
          </a:solidFill>
        </a:fill>
      </a:tcStyle>
    </a:band2H>
    <a:firstCol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n" i="off">
        <a:font>
          <a:latin typeface="ヒラギノ角ゴ ProN W6"/>
          <a:ea typeface="ヒラギノ角ゴ ProN W6"/>
          <a:cs typeface="ヒラギノ角ゴ ProN W6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CDDF"/>
          </a:solidFill>
        </a:fill>
      </a:tcStyle>
    </a:wholeTbl>
    <a:band2H>
      <a:tcTxStyle b="def" i="def"/>
      <a:tcStyle>
        <a:tcBdr/>
        <a:fill>
          <a:solidFill>
            <a:srgbClr val="FFE8F0"/>
          </a:solidFill>
        </a:fill>
      </a:tcStyle>
    </a:band2H>
    <a:firstCol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n" i="off">
        <a:font>
          <a:latin typeface="ヒラギノ角ゴ ProN W6"/>
          <a:ea typeface="ヒラギノ角ゴ ProN W6"/>
          <a:cs typeface="ヒラギノ角ゴ ProN W6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ヒラギノ角ゴ ProN W6"/>
          <a:ea typeface="ヒラギノ角ゴ ProN W6"/>
          <a:cs typeface="ヒラギノ角ゴ ProN W6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n" i="off">
        <a:font>
          <a:latin typeface="ヒラギノ角ゴ ProN W6"/>
          <a:ea typeface="ヒラギノ角ゴ ProN W6"/>
          <a:cs typeface="ヒラギノ角ゴ ProN W6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n" i="off">
        <a:font>
          <a:latin typeface="ヒラギノ角ゴ ProN W6"/>
          <a:ea typeface="ヒラギノ角ゴ ProN W6"/>
          <a:cs typeface="ヒラギノ角ゴ ProN W6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ヒラギノ角ゴ ProN W6"/>
          <a:ea typeface="ヒラギノ角ゴ ProN W6"/>
          <a:cs typeface="ヒラギノ角ゴ ProN W6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ヒラギノ角ゴ ProN W6"/>
          <a:ea typeface="ヒラギノ角ゴ ProN W6"/>
          <a:cs typeface="ヒラギノ角ゴ ProN W6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ヒラギノ角ゴ ProN W6"/>
          <a:ea typeface="ヒラギノ角ゴ ProN W6"/>
          <a:cs typeface="ヒラギノ角ゴ ProN W6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本文レベル1…"/>
          <p:cNvSpPr txBox="1"/>
          <p:nvPr>
            <p:ph type="body" sz="quarter" idx="1" hasCustomPrompt="1"/>
          </p:nvPr>
        </p:nvSpPr>
        <p:spPr>
          <a:xfrm>
            <a:off x="1201340" y="11859862"/>
            <a:ext cx="2197100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5pPr>
          </a:lstStyle>
          <a:p>
            <a:pPr/>
            <a:r>
              <a:t>作者と日付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" name="プレゼンテーションのタイトル"/>
          <p:cNvSpPr txBox="1"/>
          <p:nvPr>
            <p:ph type="title" hasCustomPrompt="1"/>
          </p:nvPr>
        </p:nvSpPr>
        <p:spPr>
          <a:xfrm>
            <a:off x="1206496" y="2574991"/>
            <a:ext cx="21971005" cy="4648202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プレゼンテーションのタイトル</a:t>
            </a:r>
          </a:p>
        </p:txBody>
      </p:sp>
      <p:sp>
        <p:nvSpPr>
          <p:cNvPr id="13" name="本文レベル1…"/>
          <p:cNvSpPr txBox="1"/>
          <p:nvPr>
            <p:ph type="body" sz="quarter" idx="21" hasCustomPrompt="1"/>
          </p:nvPr>
        </p:nvSpPr>
        <p:spPr>
          <a:xfrm>
            <a:off x="1201342" y="7223190"/>
            <a:ext cx="21971002" cy="1905002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1pPr>
          </a:lstStyle>
          <a:p>
            <a:pPr/>
            <a:r>
              <a:t>プレゼンテーションのサブタイトル</a:t>
            </a:r>
          </a:p>
        </p:txBody>
      </p:sp>
      <p:sp>
        <p:nvSpPr>
          <p:cNvPr id="1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&amp;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アボカドとライム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22" name="プレゼンテーションのタイトル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プレゼンテーションのタイトル</a:t>
            </a:r>
          </a:p>
        </p:txBody>
      </p:sp>
      <p:sp>
        <p:nvSpPr>
          <p:cNvPr id="23" name="本文レベル1…"/>
          <p:cNvSpPr txBox="1"/>
          <p:nvPr>
            <p:ph type="body" sz="quarter" idx="1" hasCustomPrompt="1"/>
          </p:nvPr>
        </p:nvSpPr>
        <p:spPr>
          <a:xfrm>
            <a:off x="1207690" y="1106137"/>
            <a:ext cx="21968621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5pPr>
          </a:lstStyle>
          <a:p>
            <a:pPr/>
            <a:r>
              <a:t>作者と日付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本文レベル1…"/>
          <p:cNvSpPr txBox="1"/>
          <p:nvPr>
            <p:ph type="body" sz="quarter" idx="22" hasCustomPrompt="1"/>
          </p:nvPr>
        </p:nvSpPr>
        <p:spPr>
          <a:xfrm>
            <a:off x="1206500" y="11609909"/>
            <a:ext cx="21971000" cy="1116953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1pPr>
          </a:lstStyle>
          <a:p>
            <a:pPr/>
            <a:r>
              <a:t>プレゼンテーションのサブタイトル</a:t>
            </a:r>
          </a:p>
        </p:txBody>
      </p:sp>
      <p:sp>
        <p:nvSpPr>
          <p:cNvPr id="2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&amp;画像（代替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サーモンケーキ、サラダ、フムスが入ったボウル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33" name="スライドのタイトル"/>
          <p:cNvSpPr txBox="1"/>
          <p:nvPr>
            <p:ph type="title" hasCustomPrompt="1"/>
          </p:nvPr>
        </p:nvSpPr>
        <p:spPr>
          <a:xfrm>
            <a:off x="1206500" y="1270000"/>
            <a:ext cx="9779000" cy="5882274"/>
          </a:xfrm>
          <a:prstGeom prst="rect">
            <a:avLst/>
          </a:prstGeom>
        </p:spPr>
        <p:txBody>
          <a:bodyPr anchor="b"/>
          <a:lstStyle/>
          <a:p>
            <a:pPr/>
            <a:r>
              <a:t>スライドのタイトル</a:t>
            </a:r>
          </a:p>
        </p:txBody>
      </p:sp>
      <p:sp>
        <p:nvSpPr>
          <p:cNvPr id="34" name="本文レベル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5pPr>
          </a:lstStyle>
          <a:p>
            <a:pPr/>
            <a:r>
              <a:t>スライドのサブタイトル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スライド番号"/>
          <p:cNvSpPr txBox="1"/>
          <p:nvPr>
            <p:ph type="sldNum" sz="quarter" idx="2"/>
          </p:nvPr>
        </p:nvSpPr>
        <p:spPr>
          <a:xfrm>
            <a:off x="12001465" y="13078834"/>
            <a:ext cx="368573" cy="3810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&amp;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43" name="本文レベル1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5pPr>
          </a:lstStyle>
          <a:p>
            <a:pPr/>
            <a:r>
              <a:t>スライドのサブタイトル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本文レベル1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 numCol="1" spcCol="38100"/>
          <a:lstStyle/>
          <a:p>
            <a:pPr/>
            <a:r>
              <a:t>スライドの箇条書きテキスト</a:t>
            </a:r>
          </a:p>
        </p:txBody>
      </p:sp>
      <p:sp>
        <p:nvSpPr>
          <p:cNvPr id="4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本文レベル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、箇条書き、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本文レベル1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5pPr>
          </a:lstStyle>
          <a:p>
            <a:pPr/>
            <a:r>
              <a:t>スライドのサブタイトル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1" name="本文レベル1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スライドの箇条書きテキスト</a:t>
            </a:r>
          </a:p>
        </p:txBody>
      </p:sp>
      <p:sp>
        <p:nvSpPr>
          <p:cNvPr id="62" name="パセリバター、煎りヘーゼルナッツ、削ったパルメザンチーズがかかったパッパルデッレパスタ1皿"/>
          <p:cNvSpPr/>
          <p:nvPr>
            <p:ph type="pic" idx="22"/>
          </p:nvPr>
        </p:nvSpPr>
        <p:spPr>
          <a:xfrm>
            <a:off x="12192000" y="-407266"/>
            <a:ext cx="10916874" cy="145558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63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6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、箇条書き、ライブビデオ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本文レベル1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5pPr>
          </a:lstStyle>
          <a:p>
            <a:pPr/>
            <a:r>
              <a:t>スライドのサブタイトル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2" name="本文レベル1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スライドの箇条書きテキスト</a:t>
            </a:r>
          </a:p>
        </p:txBody>
      </p:sp>
      <p:sp>
        <p:nvSpPr>
          <p:cNvPr id="73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7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、箇条書き、ライブビデオ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本文レベル1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5pPr>
          </a:lstStyle>
          <a:p>
            <a:pPr/>
            <a:r>
              <a:t>スライドのサブタイトル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2" name="本文レベル1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スライドの箇条書きテキスト</a:t>
            </a:r>
          </a:p>
        </p:txBody>
      </p:sp>
      <p:sp>
        <p:nvSpPr>
          <p:cNvPr id="83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8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セクションタイトル"/>
          <p:cNvSpPr txBox="1"/>
          <p:nvPr>
            <p:ph type="title" hasCustomPrompt="1"/>
          </p:nvPr>
        </p:nvSpPr>
        <p:spPr>
          <a:xfrm>
            <a:off x="1206496" y="4533900"/>
            <a:ext cx="21971005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+mn-lt"/>
                <a:ea typeface="+mn-ea"/>
                <a:cs typeface="+mn-cs"/>
                <a:sym typeface="ヒラギノ角ゴ ProN W3"/>
              </a:defRPr>
            </a:lvl1pPr>
          </a:lstStyle>
          <a:p>
            <a:pPr/>
            <a:r>
              <a:t>セクションタイトル</a:t>
            </a:r>
          </a:p>
        </p:txBody>
      </p:sp>
      <p:sp>
        <p:nvSpPr>
          <p:cNvPr id="92" name="スライド番号"/>
          <p:cNvSpPr txBox="1"/>
          <p:nvPr>
            <p:ph type="sldNum" sz="quarter" idx="2"/>
          </p:nvPr>
        </p:nvSpPr>
        <p:spPr>
          <a:xfrm>
            <a:off x="12001465" y="13078834"/>
            <a:ext cx="368573" cy="3810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21971000" cy="1434950"/>
          </a:xfrm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100" name="本文レベル1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5pPr>
          </a:lstStyle>
          <a:p>
            <a:pPr/>
            <a:r>
              <a:t>スライドのサブタイトル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議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議題のタイトル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議題のタイトル</a:t>
            </a:r>
          </a:p>
        </p:txBody>
      </p:sp>
      <p:sp>
        <p:nvSpPr>
          <p:cNvPr id="109" name="本文レベル1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5pPr>
          </a:lstStyle>
          <a:p>
            <a:pPr/>
            <a:r>
              <a:t>議題のサブタイトル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本文レベル1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99" sz="5500"/>
            </a:lvl1pPr>
          </a:lstStyle>
          <a:p>
            <a:pPr/>
            <a:r>
              <a:t>議題のトピック</a:t>
            </a:r>
          </a:p>
        </p:txBody>
      </p:sp>
      <p:sp>
        <p:nvSpPr>
          <p:cNvPr id="11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ステートメン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本文レベル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numCol="1" spcCol="38100"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5pPr>
          </a:lstStyle>
          <a:p>
            <a:pPr/>
            <a:r>
              <a:t>ステートメント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ビッグファク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本文レベル1…"/>
          <p:cNvSpPr txBox="1"/>
          <p:nvPr>
            <p:ph type="body" idx="1" hasCustomPrompt="1"/>
          </p:nvPr>
        </p:nvSpPr>
        <p:spPr>
          <a:xfrm>
            <a:off x="1206500" y="1075926"/>
            <a:ext cx="21971000" cy="7241586"/>
          </a:xfrm>
          <a:prstGeom prst="rect">
            <a:avLst/>
          </a:prstGeom>
        </p:spPr>
        <p:txBody>
          <a:bodyPr numCol="1" spcCol="38100"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ファクト情報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1pPr>
          </a:lstStyle>
          <a:p>
            <a:pPr/>
            <a:r>
              <a:t>ファクト情報</a:t>
            </a:r>
          </a:p>
        </p:txBody>
      </p:sp>
      <p:sp>
        <p:nvSpPr>
          <p:cNvPr id="128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本文レベル1…"/>
          <p:cNvSpPr txBox="1"/>
          <p:nvPr>
            <p:ph type="body" sz="quarter" idx="1" hasCustomPrompt="1"/>
          </p:nvPr>
        </p:nvSpPr>
        <p:spPr>
          <a:xfrm>
            <a:off x="2430024" y="10675453"/>
            <a:ext cx="2020005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>
                <a:latin typeface="ヒラギノ角ゴ ProN W6"/>
                <a:ea typeface="ヒラギノ角ゴ ProN W6"/>
                <a:cs typeface="ヒラギノ角ゴ ProN W6"/>
                <a:sym typeface="ヒラギノ角ゴ ProN W6"/>
              </a:defRPr>
            </a:lvl5pPr>
          </a:lstStyle>
          <a:p>
            <a:pPr/>
            <a:r>
              <a:t>属性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本文レベル1…"/>
          <p:cNvSpPr txBox="1"/>
          <p:nvPr>
            <p:ph type="body" sz="half" idx="21" hasCustomPrompt="1"/>
          </p:nvPr>
        </p:nvSpPr>
        <p:spPr>
          <a:xfrm>
            <a:off x="1753923" y="4939860"/>
            <a:ext cx="20876154" cy="3836281"/>
          </a:xfrm>
          <a:prstGeom prst="rect">
            <a:avLst/>
          </a:prstGeom>
        </p:spPr>
        <p:txBody>
          <a:bodyPr numCol="1" spcCol="38100"/>
          <a:lstStyle>
            <a:lvl1pPr marL="469900" indent="-300876">
              <a:spcBef>
                <a:spcPts val="0"/>
              </a:spcBef>
              <a:buSzTx/>
              <a:buNone/>
              <a:defRPr spc="-200" sz="8500"/>
            </a:lvl1pPr>
          </a:lstStyle>
          <a:p>
            <a:pPr/>
            <a:r>
              <a:t>“重要な引用”</a:t>
            </a:r>
          </a:p>
        </p:txBody>
      </p:sp>
      <p:sp>
        <p:nvSpPr>
          <p:cNvPr id="137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画像（3点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炒飯、ゆで卵、箸が添えられたボウル1杯のサラダ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5" name="サーモンケーキ、サラダ、フムスが入ったボウル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6" name="パセリバター、煎りヘーゼルナッツ、削ったパルメザンチーズがかかったパッパルデッレパスタ1皿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7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写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炒飯、ゆで卵、箸が添えられたボウル1杯のサラダ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5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本文レベル1…"/>
          <p:cNvSpPr txBox="1"/>
          <p:nvPr>
            <p:ph type="body" idx="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numCol="2" spcCol="1098550">
            <a:normAutofit fontScale="100000" lnSpcReduction="0"/>
          </a:bodyPr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タイトルテキスト"/>
          <p:cNvSpPr txBox="1"/>
          <p:nvPr>
            <p:ph type="title"/>
          </p:nvPr>
        </p:nvSpPr>
        <p:spPr>
          <a:xfrm>
            <a:off x="3653366" y="2743200"/>
            <a:ext cx="19507201" cy="1505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タイトルテキスト</a:t>
            </a:r>
          </a:p>
        </p:txBody>
      </p:sp>
      <p:sp>
        <p:nvSpPr>
          <p:cNvPr id="4" name="スライド番号"/>
          <p:cNvSpPr txBox="1"/>
          <p:nvPr>
            <p:ph type="sldNum" sz="quarter" idx="2"/>
          </p:nvPr>
        </p:nvSpPr>
        <p:spPr>
          <a:xfrm>
            <a:off x="12001465" y="13074598"/>
            <a:ext cx="368573" cy="3810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b="0" sz="1800">
                <a:latin typeface="+mn-lt"/>
                <a:ea typeface="+mn-ea"/>
                <a:cs typeface="+mn-cs"/>
                <a:sym typeface="ヒラギノ角ゴ ProN W3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1pPr>
      <a:lvl2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2pPr>
      <a:lvl3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3pPr>
      <a:lvl4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4pPr>
      <a:lvl5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5pPr>
      <a:lvl6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6pPr>
      <a:lvl7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7pPr>
      <a:lvl8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8pPr>
      <a:lvl9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9pPr>
    </p:titleStyle>
    <p:bodyStyle>
      <a:lvl1pPr marL="609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1pPr>
      <a:lvl2pPr marL="1219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2pPr>
      <a:lvl3pPr marL="1828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3pPr>
      <a:lvl4pPr marL="2438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4pPr>
      <a:lvl5pPr marL="30480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5pPr>
      <a:lvl6pPr marL="3657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6pPr>
      <a:lvl7pPr marL="4267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7pPr>
      <a:lvl8pPr marL="4876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8pPr>
      <a:lvl9pPr marL="5486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作者と日付"/>
          <p:cNvSpPr txBox="1"/>
          <p:nvPr>
            <p:ph type="body" sz="quarter" idx="1"/>
          </p:nvPr>
        </p:nvSpPr>
        <p:spPr>
          <a:xfrm>
            <a:off x="1201341" y="11859862"/>
            <a:ext cx="21971002" cy="63698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MuleSoftの特徴とメリデメ"/>
          <p:cNvSpPr txBox="1"/>
          <p:nvPr>
            <p:ph type="title"/>
          </p:nvPr>
        </p:nvSpPr>
        <p:spPr>
          <a:xfrm>
            <a:off x="1206495" y="2574991"/>
            <a:ext cx="21971006" cy="4648202"/>
          </a:xfrm>
          <a:prstGeom prst="rect">
            <a:avLst/>
          </a:prstGeom>
        </p:spPr>
        <p:txBody>
          <a:bodyPr/>
          <a:lstStyle>
            <a:lvl1pPr>
              <a:defRPr spc="-300"/>
            </a:lvl1pPr>
          </a:lstStyle>
          <a:p>
            <a:pPr/>
            <a:r>
              <a:t>MuleSoftの特徴とメリデメ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1. イントロダクション：疎結合を物理的に強制するiPaaS（1分）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682452">
              <a:defRPr spc="-200" sz="5800"/>
            </a:lvl1pPr>
          </a:lstStyle>
          <a:p>
            <a:pPr/>
            <a:r>
              <a:t>1. イントロダクション：疎結合を物理的に強制するiPaaS（1分）</a:t>
            </a:r>
          </a:p>
        </p:txBody>
      </p:sp>
      <p:sp>
        <p:nvSpPr>
          <p:cNvPr id="175" name="スライドのサブタイトル"/>
          <p:cNvSpPr txBox="1"/>
          <p:nvPr>
            <p:ph type="body" sz="quarter" idx="1"/>
          </p:nvPr>
        </p:nvSpPr>
        <p:spPr>
          <a:xfrm>
            <a:off x="1206500" y="2372961"/>
            <a:ext cx="21971000" cy="93478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6" name="iPaaS (integration Platform as a Service) ： 分散したSaaS/オンプレミスを統合する目的の製品。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426719" indent="-426719" defTabSz="1706837">
              <a:spcBef>
                <a:spcPts val="3100"/>
              </a:spcBef>
              <a:defRPr sz="3300"/>
            </a:pPr>
            <a:r>
              <a:t> iPaaS (integration Platform as a Service) ： 分散したSaaS/オンプレミスを統合する目的の製品。</a:t>
            </a:r>
          </a:p>
          <a:p>
            <a:pPr marL="426719" indent="-426719" defTabSz="1706837">
              <a:spcBef>
                <a:spcPts val="3100"/>
              </a:spcBef>
              <a:defRPr sz="3300"/>
            </a:pPr>
            <a:r>
              <a:t> 脱・密結合： スクラッチでの「点対点（Point-to-Point）」連携による技術的負債の解消。</a:t>
            </a:r>
          </a:p>
          <a:p>
            <a:pPr lvl="1" marL="853438" indent="-426719" defTabSz="1706837">
              <a:spcBef>
                <a:spcPts val="3100"/>
              </a:spcBef>
              <a:defRPr sz="3300"/>
            </a:pPr>
            <a:r>
              <a:t>裏を返せば、MuleSoft単体では何もできない。</a:t>
            </a:r>
          </a:p>
          <a:p>
            <a:pPr marL="426719" indent="-426719" defTabSz="1706837">
              <a:spcBef>
                <a:spcPts val="3100"/>
              </a:spcBef>
              <a:defRPr sz="3300"/>
            </a:pPr>
            <a:r>
              <a:t> 周辺機能の現状と展望：</a:t>
            </a:r>
          </a:p>
          <a:p>
            <a:pPr lvl="1" marL="853438" indent="-426719" defTabSz="1706837">
              <a:spcBef>
                <a:spcPts val="3100"/>
              </a:spcBef>
              <a:defRPr sz="3300"/>
            </a:pPr>
            <a:r>
              <a:t>RPA： 過去に流行したが、現在は他社製品（専業ベンダー）の方が強い印象。</a:t>
            </a:r>
          </a:p>
          <a:p>
            <a:pPr lvl="1" marL="853438" indent="-426719" defTabSz="1706837">
              <a:spcBef>
                <a:spcPts val="3100"/>
              </a:spcBef>
              <a:defRPr sz="3300"/>
            </a:pPr>
            <a:r>
              <a:t>Anypoint DataGraph： GraphQLで複数のAPIを統合する機能。</a:t>
            </a:r>
          </a:p>
          <a:p>
            <a:pPr lvl="1" marL="853438" indent="-426719" defTabSz="1706837">
              <a:spcBef>
                <a:spcPts val="3100"/>
              </a:spcBef>
              <a:defRPr sz="3300"/>
            </a:pPr>
            <a:r>
              <a:t>Flex Gateway ： 当初は軽量なAPIゲートウェイを目指した機能。現在はAI用途の機能拡充が進み、注目されている模様。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2. API主導の接続性とEIPの適用（2分）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2. API主導の接続性とEIPの適用（2分）</a:t>
            </a:r>
          </a:p>
        </p:txBody>
      </p:sp>
      <p:sp>
        <p:nvSpPr>
          <p:cNvPr id="179" name="スライドのサブタイトル"/>
          <p:cNvSpPr txBox="1"/>
          <p:nvPr>
            <p:ph type="body" sz="quarter" idx="1"/>
          </p:nvPr>
        </p:nvSpPr>
        <p:spPr>
          <a:xfrm>
            <a:off x="1206500" y="2372961"/>
            <a:ext cx="21971000" cy="93478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0" name="[一般]  MSA(マイクロサービス・アーキテクチャ)：  各APIが独立したライフサイクルを持つマイクロサービスとして機能。一部の変更が全体に波及しない高い保守性のために。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418184" indent="-418184" defTabSz="1672700">
              <a:spcBef>
                <a:spcPts val="3000"/>
              </a:spcBef>
              <a:defRPr sz="3234"/>
            </a:pPr>
            <a:r>
              <a:t>[一般]  MSA(マイクロサービス・アーキテクチャ)：  各APIが独立したライフサイクルを持つマイクロサービスとして機能。一部の変更が全体に波及しない高い保守性のために。</a:t>
            </a:r>
          </a:p>
          <a:p>
            <a:pPr marL="418184" indent="-418184" defTabSz="1672700">
              <a:spcBef>
                <a:spcPts val="3000"/>
              </a:spcBef>
              <a:defRPr sz="3234"/>
            </a:pPr>
            <a:r>
              <a:t>[一般] EIP (Enterprise Integration Patterns)：</a:t>
            </a:r>
          </a:p>
          <a:p>
            <a:pPr lvl="1" marL="836370" indent="-418184" defTabSz="1672700">
              <a:spcBef>
                <a:spcPts val="3000"/>
              </a:spcBef>
              <a:defRPr sz="3234"/>
            </a:pPr>
            <a:r>
              <a:t>Router, Scatter-Gather等のパターンをGUI上でドラッグ＆ドロップ配置し、ボイラーテンプレートを削減。</a:t>
            </a:r>
          </a:p>
          <a:p>
            <a:pPr lvl="1" marL="836370" indent="-418184" defTabSz="1672700">
              <a:spcBef>
                <a:spcPts val="3000"/>
              </a:spcBef>
              <a:defRPr sz="3234"/>
            </a:pPr>
            <a:r>
              <a:t>細かい部分は、ローコードな「DataWeave式」で加工して、データを受け渡す。</a:t>
            </a:r>
          </a:p>
          <a:p>
            <a:pPr marL="418184" indent="-418184" defTabSz="1672700">
              <a:spcBef>
                <a:spcPts val="3000"/>
              </a:spcBef>
              <a:defRPr sz="3234"/>
            </a:pPr>
            <a:r>
              <a:t>[Mule独自] 3層アーキテクチャの実装：</a:t>
            </a:r>
          </a:p>
          <a:p>
            <a:pPr lvl="1" marL="836370" indent="-418184" defTabSz="1672700">
              <a:spcBef>
                <a:spcPts val="3000"/>
              </a:spcBef>
              <a:defRPr sz="3234"/>
            </a:pPr>
            <a:r>
              <a:t>Experience層 / Process層 / System層 へ分割。</a:t>
            </a:r>
          </a:p>
          <a:p>
            <a:pPr marL="418184" indent="-418184" defTabSz="1672700">
              <a:spcBef>
                <a:spcPts val="3000"/>
              </a:spcBef>
              <a:defRPr sz="3234"/>
            </a:pPr>
            <a:r>
              <a:t>[Mule独自]API主導開発</a:t>
            </a:r>
          </a:p>
          <a:p>
            <a:pPr lvl="1" marL="836370" indent="-418184" defTabSz="1672700">
              <a:spcBef>
                <a:spcPts val="3000"/>
              </a:spcBef>
              <a:defRPr sz="3234"/>
            </a:pPr>
            <a:r>
              <a:t>★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3. Mule Runtimeの内部構造と拡張性（3分）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65187">
              <a:defRPr spc="-199" sz="8200"/>
            </a:lvl1pPr>
          </a:lstStyle>
          <a:p>
            <a:pPr/>
            <a:r>
              <a:t>3. Mule Runtimeの内部構造と拡張性（3分）</a:t>
            </a:r>
          </a:p>
        </p:txBody>
      </p:sp>
      <p:sp>
        <p:nvSpPr>
          <p:cNvPr id="183" name="Mule Runtimeの技術的スタック"/>
          <p:cNvSpPr txBox="1"/>
          <p:nvPr>
            <p:ph type="body" sz="quarter" idx="1"/>
          </p:nvPr>
        </p:nvSpPr>
        <p:spPr>
          <a:xfrm>
            <a:off x="1206500" y="2372961"/>
            <a:ext cx="21971000" cy="934780"/>
          </a:xfrm>
          <a:prstGeom prst="rect">
            <a:avLst/>
          </a:prstGeom>
        </p:spPr>
        <p:txBody>
          <a:bodyPr/>
          <a:lstStyle/>
          <a:p>
            <a:pPr/>
            <a:r>
              <a:t>Mule Runtimeの技術的スタック</a:t>
            </a:r>
          </a:p>
        </p:txBody>
      </p:sp>
      <p:sp>
        <p:nvSpPr>
          <p:cNvPr id="184" name="Mule用語の「Runtime Plane」          「Control Plane」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Mule用語の「Runtime Plane」　　　　　　　　　　「Control Plane」</a:t>
            </a:r>
          </a:p>
        </p:txBody>
      </p:sp>
      <p:grpSp>
        <p:nvGrpSpPr>
          <p:cNvPr id="187" name="AWS ※Muleが管理"/>
          <p:cNvGrpSpPr/>
          <p:nvPr/>
        </p:nvGrpSpPr>
        <p:grpSpPr>
          <a:xfrm>
            <a:off x="2199529" y="11181175"/>
            <a:ext cx="6467329" cy="1301375"/>
            <a:chOff x="0" y="0"/>
            <a:chExt cx="6467328" cy="1301373"/>
          </a:xfrm>
        </p:grpSpPr>
        <p:sp>
          <p:nvSpPr>
            <p:cNvPr id="185" name="四角形"/>
            <p:cNvSpPr/>
            <p:nvPr/>
          </p:nvSpPr>
          <p:spPr>
            <a:xfrm rot="21583301">
              <a:off x="3046" y="15685"/>
              <a:ext cx="6461236" cy="1270002"/>
            </a:xfrm>
            <a:prstGeom prst="rect">
              <a:avLst/>
            </a:prstGeom>
            <a:solidFill>
              <a:srgbClr val="56C1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b="0" sz="3200">
                  <a:latin typeface="+mn-lt"/>
                  <a:ea typeface="+mn-ea"/>
                  <a:cs typeface="+mn-cs"/>
                  <a:sym typeface="ヒラギノ角ゴ ProN W3"/>
                </a:defRPr>
              </a:pPr>
            </a:p>
          </p:txBody>
        </p:sp>
        <p:sp>
          <p:nvSpPr>
            <p:cNvPr id="186" name="AWS ※Muleが管理"/>
            <p:cNvSpPr txBox="1"/>
            <p:nvPr/>
          </p:nvSpPr>
          <p:spPr>
            <a:xfrm rot="21583301">
              <a:off x="15746" y="358586"/>
              <a:ext cx="6435836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b="0" sz="3200">
                  <a:latin typeface="+mn-lt"/>
                  <a:ea typeface="+mn-ea"/>
                  <a:cs typeface="+mn-cs"/>
                  <a:sym typeface="ヒラギノ角ゴ ProN W3"/>
                </a:defRPr>
              </a:lvl1pPr>
            </a:lstStyle>
            <a:p>
              <a:pPr/>
              <a:r>
                <a:t>AWS　※Muleが管理</a:t>
              </a:r>
            </a:p>
          </p:txBody>
        </p:sp>
      </p:grpSp>
      <p:grpSp>
        <p:nvGrpSpPr>
          <p:cNvPr id="190" name="Kubernetes"/>
          <p:cNvGrpSpPr/>
          <p:nvPr/>
        </p:nvGrpSpPr>
        <p:grpSpPr>
          <a:xfrm>
            <a:off x="2202584" y="9933053"/>
            <a:ext cx="12609991" cy="1270002"/>
            <a:chOff x="0" y="0"/>
            <a:chExt cx="12609989" cy="1270001"/>
          </a:xfrm>
        </p:grpSpPr>
        <p:sp>
          <p:nvSpPr>
            <p:cNvPr id="188" name="四角形"/>
            <p:cNvSpPr/>
            <p:nvPr/>
          </p:nvSpPr>
          <p:spPr>
            <a:xfrm>
              <a:off x="0" y="-1"/>
              <a:ext cx="12609990" cy="1270003"/>
            </a:xfrm>
            <a:prstGeom prst="rect">
              <a:avLst/>
            </a:prstGeom>
            <a:solidFill>
              <a:srgbClr val="56C1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b="0" sz="3200">
                  <a:latin typeface="+mn-lt"/>
                  <a:ea typeface="+mn-ea"/>
                  <a:cs typeface="+mn-cs"/>
                  <a:sym typeface="ヒラギノ角ゴ ProN W3"/>
                </a:defRPr>
              </a:pPr>
            </a:p>
          </p:txBody>
        </p:sp>
        <p:sp>
          <p:nvSpPr>
            <p:cNvPr id="189" name="Kubernetes"/>
            <p:cNvSpPr txBox="1"/>
            <p:nvPr/>
          </p:nvSpPr>
          <p:spPr>
            <a:xfrm>
              <a:off x="12700" y="342900"/>
              <a:ext cx="12584590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b="0" sz="3200">
                  <a:latin typeface="+mn-lt"/>
                  <a:ea typeface="+mn-ea"/>
                  <a:cs typeface="+mn-cs"/>
                  <a:sym typeface="ヒラギノ角ゴ ProN W3"/>
                </a:defRPr>
              </a:lvl1pPr>
            </a:lstStyle>
            <a:p>
              <a:pPr/>
              <a:r>
                <a:t>Kubernetes</a:t>
              </a:r>
            </a:p>
          </p:txBody>
        </p:sp>
      </p:grpSp>
      <p:grpSp>
        <p:nvGrpSpPr>
          <p:cNvPr id="193" name="JDK"/>
          <p:cNvGrpSpPr/>
          <p:nvPr/>
        </p:nvGrpSpPr>
        <p:grpSpPr>
          <a:xfrm>
            <a:off x="2202584" y="8761496"/>
            <a:ext cx="12609991" cy="1270002"/>
            <a:chOff x="0" y="0"/>
            <a:chExt cx="12609989" cy="1270001"/>
          </a:xfrm>
        </p:grpSpPr>
        <p:sp>
          <p:nvSpPr>
            <p:cNvPr id="191" name="四角形"/>
            <p:cNvSpPr/>
            <p:nvPr/>
          </p:nvSpPr>
          <p:spPr>
            <a:xfrm>
              <a:off x="0" y="-1"/>
              <a:ext cx="12609990" cy="1270003"/>
            </a:xfrm>
            <a:prstGeom prst="rect">
              <a:avLst/>
            </a:prstGeom>
            <a:solidFill>
              <a:srgbClr val="56C1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b="0" sz="3200">
                  <a:latin typeface="+mn-lt"/>
                  <a:ea typeface="+mn-ea"/>
                  <a:cs typeface="+mn-cs"/>
                  <a:sym typeface="ヒラギノ角ゴ ProN W3"/>
                </a:defRPr>
              </a:pPr>
            </a:p>
          </p:txBody>
        </p:sp>
        <p:sp>
          <p:nvSpPr>
            <p:cNvPr id="192" name="JDK"/>
            <p:cNvSpPr txBox="1"/>
            <p:nvPr/>
          </p:nvSpPr>
          <p:spPr>
            <a:xfrm>
              <a:off x="12700" y="342900"/>
              <a:ext cx="12584590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b="0" sz="3200">
                  <a:latin typeface="+mn-lt"/>
                  <a:ea typeface="+mn-ea"/>
                  <a:cs typeface="+mn-cs"/>
                  <a:sym typeface="ヒラギノ角ゴ ProN W3"/>
                </a:defRPr>
              </a:lvl1pPr>
            </a:lstStyle>
            <a:p>
              <a:pPr/>
              <a:r>
                <a:t>JDK</a:t>
              </a:r>
            </a:p>
          </p:txBody>
        </p:sp>
      </p:grpSp>
      <p:grpSp>
        <p:nvGrpSpPr>
          <p:cNvPr id="196" name="Mule Runtime"/>
          <p:cNvGrpSpPr/>
          <p:nvPr/>
        </p:nvGrpSpPr>
        <p:grpSpPr>
          <a:xfrm>
            <a:off x="2202584" y="7586836"/>
            <a:ext cx="5291054" cy="1270002"/>
            <a:chOff x="0" y="0"/>
            <a:chExt cx="5291052" cy="1270001"/>
          </a:xfrm>
        </p:grpSpPr>
        <p:sp>
          <p:nvSpPr>
            <p:cNvPr id="194" name="四角形"/>
            <p:cNvSpPr/>
            <p:nvPr/>
          </p:nvSpPr>
          <p:spPr>
            <a:xfrm>
              <a:off x="-1" y="-1"/>
              <a:ext cx="5291054" cy="1270003"/>
            </a:xfrm>
            <a:prstGeom prst="rect">
              <a:avLst/>
            </a:prstGeom>
            <a:solidFill>
              <a:srgbClr val="56C1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b="0" sz="3200">
                  <a:latin typeface="+mn-lt"/>
                  <a:ea typeface="+mn-ea"/>
                  <a:cs typeface="+mn-cs"/>
                  <a:sym typeface="ヒラギノ角ゴ ProN W3"/>
                </a:defRPr>
              </a:pPr>
            </a:p>
          </p:txBody>
        </p:sp>
        <p:sp>
          <p:nvSpPr>
            <p:cNvPr id="195" name="Mule Runtime"/>
            <p:cNvSpPr txBox="1"/>
            <p:nvPr/>
          </p:nvSpPr>
          <p:spPr>
            <a:xfrm>
              <a:off x="12699" y="342900"/>
              <a:ext cx="5265654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b="0" sz="3200">
                  <a:latin typeface="+mn-lt"/>
                  <a:ea typeface="+mn-ea"/>
                  <a:cs typeface="+mn-cs"/>
                  <a:sym typeface="ヒラギノ角ゴ ProN W3"/>
                </a:defRPr>
              </a:lvl1pPr>
            </a:lstStyle>
            <a:p>
              <a:pPr/>
              <a:r>
                <a:t>Mule Runtime</a:t>
              </a:r>
            </a:p>
          </p:txBody>
        </p:sp>
      </p:grpSp>
      <p:grpSp>
        <p:nvGrpSpPr>
          <p:cNvPr id="199" name="Runtimeと同梱の Javaライブラリ"/>
          <p:cNvGrpSpPr/>
          <p:nvPr/>
        </p:nvGrpSpPr>
        <p:grpSpPr>
          <a:xfrm>
            <a:off x="7444434" y="7586836"/>
            <a:ext cx="4084364" cy="1270002"/>
            <a:chOff x="0" y="0"/>
            <a:chExt cx="4084363" cy="1270001"/>
          </a:xfrm>
        </p:grpSpPr>
        <p:sp>
          <p:nvSpPr>
            <p:cNvPr id="197" name="四角形"/>
            <p:cNvSpPr/>
            <p:nvPr/>
          </p:nvSpPr>
          <p:spPr>
            <a:xfrm>
              <a:off x="-1" y="-1"/>
              <a:ext cx="4084365" cy="1270003"/>
            </a:xfrm>
            <a:prstGeom prst="rect">
              <a:avLst/>
            </a:prstGeom>
            <a:solidFill>
              <a:srgbClr val="56C1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b="0" sz="3200">
                  <a:latin typeface="+mn-lt"/>
                  <a:ea typeface="+mn-ea"/>
                  <a:cs typeface="+mn-cs"/>
                  <a:sym typeface="ヒラギノ角ゴ ProN W3"/>
                </a:defRPr>
              </a:pPr>
            </a:p>
          </p:txBody>
        </p:sp>
        <p:sp>
          <p:nvSpPr>
            <p:cNvPr id="198" name="Runtimeと同梱の Javaライブラリ"/>
            <p:cNvSpPr txBox="1"/>
            <p:nvPr/>
          </p:nvSpPr>
          <p:spPr>
            <a:xfrm>
              <a:off x="12699" y="0"/>
              <a:ext cx="4058965" cy="1270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b="0" sz="3200">
                  <a:latin typeface="+mn-lt"/>
                  <a:ea typeface="+mn-ea"/>
                  <a:cs typeface="+mn-cs"/>
                  <a:sym typeface="ヒラギノ角ゴ ProN W3"/>
                </a:defRPr>
              </a:pPr>
              <a:r>
                <a:t>Runtimeと同梱の</a:t>
              </a:r>
              <a:br/>
              <a:r>
                <a:t>Javaライブラリ</a:t>
              </a:r>
            </a:p>
          </p:txBody>
        </p:sp>
      </p:grpSp>
      <p:grpSp>
        <p:nvGrpSpPr>
          <p:cNvPr id="202" name="利用者の Javaライブラリ"/>
          <p:cNvGrpSpPr/>
          <p:nvPr/>
        </p:nvGrpSpPr>
        <p:grpSpPr>
          <a:xfrm>
            <a:off x="11546478" y="7586836"/>
            <a:ext cx="3256517" cy="1270002"/>
            <a:chOff x="0" y="0"/>
            <a:chExt cx="3256515" cy="1270001"/>
          </a:xfrm>
        </p:grpSpPr>
        <p:sp>
          <p:nvSpPr>
            <p:cNvPr id="200" name="四角形"/>
            <p:cNvSpPr/>
            <p:nvPr/>
          </p:nvSpPr>
          <p:spPr>
            <a:xfrm>
              <a:off x="-1" y="-1"/>
              <a:ext cx="3256517" cy="1270003"/>
            </a:xfrm>
            <a:prstGeom prst="rect">
              <a:avLst/>
            </a:prstGeom>
            <a:solidFill>
              <a:srgbClr val="89FA4E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b="0" sz="3200">
                  <a:latin typeface="+mn-lt"/>
                  <a:ea typeface="+mn-ea"/>
                  <a:cs typeface="+mn-cs"/>
                  <a:sym typeface="ヒラギノ角ゴ ProN W3"/>
                </a:defRPr>
              </a:pPr>
            </a:p>
          </p:txBody>
        </p:sp>
        <p:sp>
          <p:nvSpPr>
            <p:cNvPr id="201" name="利用者の Javaライブラリ"/>
            <p:cNvSpPr txBox="1"/>
            <p:nvPr/>
          </p:nvSpPr>
          <p:spPr>
            <a:xfrm>
              <a:off x="12699" y="0"/>
              <a:ext cx="3231117" cy="1270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b="0" sz="3200">
                  <a:latin typeface="+mn-lt"/>
                  <a:ea typeface="+mn-ea"/>
                  <a:cs typeface="+mn-cs"/>
                  <a:sym typeface="ヒラギノ角ゴ ProN W3"/>
                </a:defRPr>
              </a:pPr>
              <a:r>
                <a:t> 利用者の</a:t>
              </a:r>
              <a:br/>
              <a:r>
                <a:t>Javaライブラリ</a:t>
              </a:r>
            </a:p>
          </p:txBody>
        </p:sp>
      </p:grpSp>
      <p:grpSp>
        <p:nvGrpSpPr>
          <p:cNvPr id="205" name="標準コンポーネント…"/>
          <p:cNvGrpSpPr/>
          <p:nvPr/>
        </p:nvGrpSpPr>
        <p:grpSpPr>
          <a:xfrm>
            <a:off x="2202584" y="6322883"/>
            <a:ext cx="5752651" cy="1270002"/>
            <a:chOff x="0" y="0"/>
            <a:chExt cx="5752649" cy="1270001"/>
          </a:xfrm>
        </p:grpSpPr>
        <p:sp>
          <p:nvSpPr>
            <p:cNvPr id="203" name="四角形"/>
            <p:cNvSpPr/>
            <p:nvPr/>
          </p:nvSpPr>
          <p:spPr>
            <a:xfrm>
              <a:off x="-1" y="-1"/>
              <a:ext cx="5752651" cy="1270003"/>
            </a:xfrm>
            <a:prstGeom prst="rect">
              <a:avLst/>
            </a:prstGeom>
            <a:solidFill>
              <a:srgbClr val="56C1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b="0" sz="3200">
                  <a:latin typeface="+mn-lt"/>
                  <a:ea typeface="+mn-ea"/>
                  <a:cs typeface="+mn-cs"/>
                  <a:sym typeface="ヒラギノ角ゴ ProN W3"/>
                </a:defRPr>
              </a:pPr>
            </a:p>
          </p:txBody>
        </p:sp>
        <p:sp>
          <p:nvSpPr>
            <p:cNvPr id="204" name="標準コンポーネント…"/>
            <p:cNvSpPr txBox="1"/>
            <p:nvPr/>
          </p:nvSpPr>
          <p:spPr>
            <a:xfrm>
              <a:off x="12699" y="76200"/>
              <a:ext cx="5727251" cy="1117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b="0" sz="3200">
                  <a:latin typeface="+mn-lt"/>
                  <a:ea typeface="+mn-ea"/>
                  <a:cs typeface="+mn-cs"/>
                  <a:sym typeface="ヒラギノ角ゴ ProN W3"/>
                </a:defRPr>
              </a:pPr>
              <a:r>
                <a:t>標準コンポーネント</a:t>
              </a:r>
            </a:p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b="0" sz="3200">
                  <a:latin typeface="+mn-lt"/>
                  <a:ea typeface="+mn-ea"/>
                  <a:cs typeface="+mn-cs"/>
                  <a:sym typeface="ヒラギノ角ゴ ProN W3"/>
                </a:defRPr>
              </a:pPr>
              <a:r>
                <a:t>標準コネクター</a:t>
              </a:r>
            </a:p>
          </p:txBody>
        </p:sp>
      </p:grpSp>
      <p:grpSp>
        <p:nvGrpSpPr>
          <p:cNvPr id="208" name="カスタムコンポーネント…"/>
          <p:cNvGrpSpPr/>
          <p:nvPr/>
        </p:nvGrpSpPr>
        <p:grpSpPr>
          <a:xfrm>
            <a:off x="7883580" y="6322883"/>
            <a:ext cx="5525796" cy="1270002"/>
            <a:chOff x="0" y="0"/>
            <a:chExt cx="5525795" cy="1270001"/>
          </a:xfrm>
        </p:grpSpPr>
        <p:sp>
          <p:nvSpPr>
            <p:cNvPr id="206" name="四角形"/>
            <p:cNvSpPr/>
            <p:nvPr/>
          </p:nvSpPr>
          <p:spPr>
            <a:xfrm>
              <a:off x="-1" y="-1"/>
              <a:ext cx="5525797" cy="1270003"/>
            </a:xfrm>
            <a:prstGeom prst="rect">
              <a:avLst/>
            </a:prstGeom>
            <a:solidFill>
              <a:srgbClr val="89FA4E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b="0" sz="3200">
                  <a:latin typeface="+mn-lt"/>
                  <a:ea typeface="+mn-ea"/>
                  <a:cs typeface="+mn-cs"/>
                  <a:sym typeface="ヒラギノ角ゴ ProN W3"/>
                </a:defRPr>
              </a:pPr>
            </a:p>
          </p:txBody>
        </p:sp>
        <p:sp>
          <p:nvSpPr>
            <p:cNvPr id="207" name="カスタムコンポーネント…"/>
            <p:cNvSpPr txBox="1"/>
            <p:nvPr/>
          </p:nvSpPr>
          <p:spPr>
            <a:xfrm>
              <a:off x="12699" y="76200"/>
              <a:ext cx="5500397" cy="1117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b="0" sz="3200">
                  <a:latin typeface="+mn-lt"/>
                  <a:ea typeface="+mn-ea"/>
                  <a:cs typeface="+mn-cs"/>
                  <a:sym typeface="ヒラギノ角ゴ ProN W3"/>
                </a:defRPr>
              </a:pPr>
              <a:r>
                <a:t>カスタムコンポーネント</a:t>
              </a:r>
            </a:p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b="0" sz="3200">
                  <a:latin typeface="+mn-lt"/>
                  <a:ea typeface="+mn-ea"/>
                  <a:cs typeface="+mn-cs"/>
                  <a:sym typeface="ヒラギノ角ゴ ProN W3"/>
                </a:defRPr>
              </a:pPr>
              <a:r>
                <a:t>カスタムコネクター</a:t>
              </a:r>
            </a:p>
          </p:txBody>
        </p:sp>
      </p:grpSp>
      <p:grpSp>
        <p:nvGrpSpPr>
          <p:cNvPr id="211" name="Muleフロー定義"/>
          <p:cNvGrpSpPr/>
          <p:nvPr/>
        </p:nvGrpSpPr>
        <p:grpSpPr>
          <a:xfrm>
            <a:off x="2202584" y="4995729"/>
            <a:ext cx="12609991" cy="1270002"/>
            <a:chOff x="0" y="0"/>
            <a:chExt cx="12609989" cy="1270001"/>
          </a:xfrm>
        </p:grpSpPr>
        <p:sp>
          <p:nvSpPr>
            <p:cNvPr id="209" name="四角形"/>
            <p:cNvSpPr/>
            <p:nvPr/>
          </p:nvSpPr>
          <p:spPr>
            <a:xfrm>
              <a:off x="0" y="-1"/>
              <a:ext cx="12609990" cy="1270003"/>
            </a:xfrm>
            <a:prstGeom prst="rect">
              <a:avLst/>
            </a:prstGeom>
            <a:solidFill>
              <a:srgbClr val="89FA4E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b="0" sz="3200">
                  <a:latin typeface="+mn-lt"/>
                  <a:ea typeface="+mn-ea"/>
                  <a:cs typeface="+mn-cs"/>
                  <a:sym typeface="ヒラギノ角ゴ ProN W3"/>
                </a:defRPr>
              </a:pPr>
            </a:p>
          </p:txBody>
        </p:sp>
        <p:sp>
          <p:nvSpPr>
            <p:cNvPr id="210" name="Muleフロー定義"/>
            <p:cNvSpPr txBox="1"/>
            <p:nvPr/>
          </p:nvSpPr>
          <p:spPr>
            <a:xfrm>
              <a:off x="12700" y="342900"/>
              <a:ext cx="12584590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b="0" sz="3200">
                  <a:latin typeface="+mn-lt"/>
                  <a:ea typeface="+mn-ea"/>
                  <a:cs typeface="+mn-cs"/>
                  <a:sym typeface="ヒラギノ角ゴ ProN W3"/>
                </a:defRPr>
              </a:lvl1pPr>
            </a:lstStyle>
            <a:p>
              <a:pPr/>
              <a:r>
                <a:t>Muleフロー定義</a:t>
              </a:r>
            </a:p>
          </p:txBody>
        </p:sp>
      </p:grpSp>
      <p:grpSp>
        <p:nvGrpSpPr>
          <p:cNvPr id="214" name="Javaコード"/>
          <p:cNvGrpSpPr/>
          <p:nvPr/>
        </p:nvGrpSpPr>
        <p:grpSpPr>
          <a:xfrm>
            <a:off x="12888152" y="6322883"/>
            <a:ext cx="1903571" cy="1270002"/>
            <a:chOff x="0" y="0"/>
            <a:chExt cx="1903570" cy="1270001"/>
          </a:xfrm>
        </p:grpSpPr>
        <p:sp>
          <p:nvSpPr>
            <p:cNvPr id="212" name="四角形"/>
            <p:cNvSpPr/>
            <p:nvPr/>
          </p:nvSpPr>
          <p:spPr>
            <a:xfrm>
              <a:off x="-1" y="-1"/>
              <a:ext cx="1903572" cy="1270003"/>
            </a:xfrm>
            <a:prstGeom prst="rect">
              <a:avLst/>
            </a:prstGeom>
            <a:solidFill>
              <a:srgbClr val="89FA4E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b="0" sz="3200">
                  <a:latin typeface="+mn-lt"/>
                  <a:ea typeface="+mn-ea"/>
                  <a:cs typeface="+mn-cs"/>
                  <a:sym typeface="ヒラギノ角ゴ ProN W3"/>
                </a:defRPr>
              </a:pPr>
            </a:p>
          </p:txBody>
        </p:sp>
        <p:sp>
          <p:nvSpPr>
            <p:cNvPr id="213" name="Javaコード"/>
            <p:cNvSpPr txBox="1"/>
            <p:nvPr/>
          </p:nvSpPr>
          <p:spPr>
            <a:xfrm>
              <a:off x="12699" y="38100"/>
              <a:ext cx="1878172" cy="1193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b="0" sz="3200">
                  <a:latin typeface="+mn-lt"/>
                  <a:ea typeface="+mn-ea"/>
                  <a:cs typeface="+mn-cs"/>
                  <a:sym typeface="ヒラギノ角ゴ ProN W3"/>
                </a:defRPr>
              </a:lvl1pPr>
            </a:lstStyle>
            <a:p>
              <a:pPr/>
              <a:r>
                <a:t>Javaコード</a:t>
              </a:r>
            </a:p>
          </p:txBody>
        </p:sp>
      </p:grpSp>
      <p:grpSp>
        <p:nvGrpSpPr>
          <p:cNvPr id="217" name="利用者の オンプレ・クラウド"/>
          <p:cNvGrpSpPr/>
          <p:nvPr/>
        </p:nvGrpSpPr>
        <p:grpSpPr>
          <a:xfrm>
            <a:off x="8644735" y="11196862"/>
            <a:ext cx="6158260" cy="1270002"/>
            <a:chOff x="0" y="0"/>
            <a:chExt cx="6158258" cy="1270001"/>
          </a:xfrm>
        </p:grpSpPr>
        <p:sp>
          <p:nvSpPr>
            <p:cNvPr id="215" name="四角形"/>
            <p:cNvSpPr/>
            <p:nvPr/>
          </p:nvSpPr>
          <p:spPr>
            <a:xfrm>
              <a:off x="0" y="-1"/>
              <a:ext cx="6158259" cy="1270003"/>
            </a:xfrm>
            <a:prstGeom prst="rect">
              <a:avLst/>
            </a:prstGeom>
            <a:solidFill>
              <a:srgbClr val="89FA4E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b="0" sz="3200">
                  <a:latin typeface="+mn-lt"/>
                  <a:ea typeface="+mn-ea"/>
                  <a:cs typeface="+mn-cs"/>
                  <a:sym typeface="ヒラギノ角ゴ ProN W3"/>
                </a:defRPr>
              </a:pPr>
            </a:p>
          </p:txBody>
        </p:sp>
        <p:sp>
          <p:nvSpPr>
            <p:cNvPr id="216" name="利用者の オンプレ・クラウド"/>
            <p:cNvSpPr txBox="1"/>
            <p:nvPr/>
          </p:nvSpPr>
          <p:spPr>
            <a:xfrm>
              <a:off x="12700" y="38100"/>
              <a:ext cx="6132859" cy="1193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b="0" sz="3200">
                  <a:latin typeface="+mn-lt"/>
                  <a:ea typeface="+mn-ea"/>
                  <a:cs typeface="+mn-cs"/>
                  <a:sym typeface="ヒラギノ角ゴ ProN W3"/>
                </a:defRPr>
              </a:pPr>
              <a:r>
                <a:t> 利用者の</a:t>
              </a:r>
              <a:br/>
              <a:r>
                <a:t>オンプレ・クラウド</a:t>
              </a:r>
            </a:p>
          </p:txBody>
        </p:sp>
      </p:grpSp>
      <p:grpSp>
        <p:nvGrpSpPr>
          <p:cNvPr id="220" name="利用者が実装する箇所"/>
          <p:cNvGrpSpPr/>
          <p:nvPr/>
        </p:nvGrpSpPr>
        <p:grpSpPr>
          <a:xfrm>
            <a:off x="17151294" y="2409930"/>
            <a:ext cx="5941175" cy="860844"/>
            <a:chOff x="0" y="0"/>
            <a:chExt cx="5941174" cy="860842"/>
          </a:xfrm>
        </p:grpSpPr>
        <p:sp>
          <p:nvSpPr>
            <p:cNvPr id="218" name="四角形"/>
            <p:cNvSpPr/>
            <p:nvPr/>
          </p:nvSpPr>
          <p:spPr>
            <a:xfrm>
              <a:off x="-1" y="-1"/>
              <a:ext cx="5941176" cy="860844"/>
            </a:xfrm>
            <a:prstGeom prst="rect">
              <a:avLst/>
            </a:prstGeom>
            <a:solidFill>
              <a:srgbClr val="89FA4E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b="0" sz="3200">
                  <a:latin typeface="+mn-lt"/>
                  <a:ea typeface="+mn-ea"/>
                  <a:cs typeface="+mn-cs"/>
                  <a:sym typeface="ヒラギノ角ゴ ProN W3"/>
                </a:defRPr>
              </a:pPr>
            </a:p>
          </p:txBody>
        </p:sp>
        <p:sp>
          <p:nvSpPr>
            <p:cNvPr id="219" name="利用者が実装する箇所"/>
            <p:cNvSpPr txBox="1"/>
            <p:nvPr/>
          </p:nvSpPr>
          <p:spPr>
            <a:xfrm>
              <a:off x="12699" y="176421"/>
              <a:ext cx="5915776" cy="508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b="0" sz="3200">
                  <a:latin typeface="+mn-lt"/>
                  <a:ea typeface="+mn-ea"/>
                  <a:cs typeface="+mn-cs"/>
                  <a:sym typeface="ヒラギノ角ゴ ProN W3"/>
                </a:defRPr>
              </a:lvl1pPr>
            </a:lstStyle>
            <a:p>
              <a:pPr/>
              <a:r>
                <a:t>利用者が実装する箇所</a:t>
              </a:r>
            </a:p>
          </p:txBody>
        </p:sp>
      </p:grpSp>
      <p:grpSp>
        <p:nvGrpSpPr>
          <p:cNvPr id="223" name="Muleが提供"/>
          <p:cNvGrpSpPr/>
          <p:nvPr/>
        </p:nvGrpSpPr>
        <p:grpSpPr>
          <a:xfrm>
            <a:off x="17128092" y="3364560"/>
            <a:ext cx="5987579" cy="827125"/>
            <a:chOff x="0" y="0"/>
            <a:chExt cx="5987577" cy="827124"/>
          </a:xfrm>
        </p:grpSpPr>
        <p:sp>
          <p:nvSpPr>
            <p:cNvPr id="221" name="四角形"/>
            <p:cNvSpPr/>
            <p:nvPr/>
          </p:nvSpPr>
          <p:spPr>
            <a:xfrm>
              <a:off x="0" y="-1"/>
              <a:ext cx="5987578" cy="827126"/>
            </a:xfrm>
            <a:prstGeom prst="rect">
              <a:avLst/>
            </a:prstGeom>
            <a:solidFill>
              <a:srgbClr val="56C1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b="0" sz="3200">
                  <a:latin typeface="+mn-lt"/>
                  <a:ea typeface="+mn-ea"/>
                  <a:cs typeface="+mn-cs"/>
                  <a:sym typeface="ヒラギノ角ゴ ProN W3"/>
                </a:defRPr>
              </a:pPr>
            </a:p>
          </p:txBody>
        </p:sp>
        <p:sp>
          <p:nvSpPr>
            <p:cNvPr id="222" name="Muleが提供"/>
            <p:cNvSpPr txBox="1"/>
            <p:nvPr/>
          </p:nvSpPr>
          <p:spPr>
            <a:xfrm>
              <a:off x="12700" y="121462"/>
              <a:ext cx="5962178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b="0" sz="3200">
                  <a:latin typeface="+mn-lt"/>
                  <a:ea typeface="+mn-ea"/>
                  <a:cs typeface="+mn-cs"/>
                  <a:sym typeface="ヒラギノ角ゴ ProN W3"/>
                </a:defRPr>
              </a:lvl1pPr>
            </a:lstStyle>
            <a:p>
              <a:pPr/>
              <a:r>
                <a:t>Muleが提供</a:t>
              </a:r>
            </a:p>
          </p:txBody>
        </p:sp>
      </p:grpSp>
      <p:grpSp>
        <p:nvGrpSpPr>
          <p:cNvPr id="226" name="中身は不明…"/>
          <p:cNvGrpSpPr/>
          <p:nvPr/>
        </p:nvGrpSpPr>
        <p:grpSpPr>
          <a:xfrm>
            <a:off x="16410804" y="5056099"/>
            <a:ext cx="7714855" cy="5863326"/>
            <a:chOff x="0" y="0"/>
            <a:chExt cx="7714853" cy="5863325"/>
          </a:xfrm>
        </p:grpSpPr>
        <p:sp>
          <p:nvSpPr>
            <p:cNvPr id="224" name="四角形"/>
            <p:cNvSpPr/>
            <p:nvPr/>
          </p:nvSpPr>
          <p:spPr>
            <a:xfrm>
              <a:off x="0" y="-1"/>
              <a:ext cx="7714854" cy="5863327"/>
            </a:xfrm>
            <a:prstGeom prst="rect">
              <a:avLst/>
            </a:prstGeom>
            <a:solidFill>
              <a:srgbClr val="56C1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b="0" sz="3200">
                  <a:latin typeface="+mn-lt"/>
                  <a:ea typeface="+mn-ea"/>
                  <a:cs typeface="+mn-cs"/>
                  <a:sym typeface="ヒラギノ角ゴ ProN W3"/>
                </a:defRPr>
              </a:pPr>
            </a:p>
          </p:txBody>
        </p:sp>
        <p:sp>
          <p:nvSpPr>
            <p:cNvPr id="225" name="中身は不明…"/>
            <p:cNvSpPr txBox="1"/>
            <p:nvPr/>
          </p:nvSpPr>
          <p:spPr>
            <a:xfrm>
              <a:off x="12700" y="1788662"/>
              <a:ext cx="7689454" cy="2286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b="0" sz="3200">
                  <a:latin typeface="+mn-lt"/>
                  <a:ea typeface="+mn-ea"/>
                  <a:cs typeface="+mn-cs"/>
                  <a:sym typeface="ヒラギノ角ゴ ProN W3"/>
                </a:defRPr>
              </a:pPr>
              <a:r>
                <a:t>中身は不明</a:t>
              </a:r>
            </a:p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b="0" sz="3200">
                  <a:latin typeface="+mn-lt"/>
                  <a:ea typeface="+mn-ea"/>
                  <a:cs typeface="+mn-cs"/>
                  <a:sym typeface="ヒラギノ角ゴ ProN W3"/>
                </a:defRPr>
              </a:pPr>
            </a:p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b="0" sz="3200">
                  <a:latin typeface="+mn-lt"/>
                  <a:ea typeface="+mn-ea"/>
                  <a:cs typeface="+mn-cs"/>
                  <a:sym typeface="ヒラギノ角ゴ ProN W3"/>
                </a:defRPr>
              </a:pPr>
              <a:r>
                <a:t>WEBコンソールと</a:t>
              </a:r>
            </a:p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b="0" sz="3200">
                  <a:latin typeface="+mn-lt"/>
                  <a:ea typeface="+mn-ea"/>
                  <a:cs typeface="+mn-cs"/>
                  <a:sym typeface="ヒラギノ角ゴ ProN W3"/>
                </a:defRPr>
              </a:pPr>
              <a:r>
                <a:t>管理機能</a:t>
              </a:r>
            </a:p>
          </p:txBody>
        </p:sp>
      </p:grpSp>
      <p:grpSp>
        <p:nvGrpSpPr>
          <p:cNvPr id="229" name="利用者の オンプレ・クラウド"/>
          <p:cNvGrpSpPr/>
          <p:nvPr/>
        </p:nvGrpSpPr>
        <p:grpSpPr>
          <a:xfrm>
            <a:off x="20007667" y="10963151"/>
            <a:ext cx="4084364" cy="1270002"/>
            <a:chOff x="0" y="0"/>
            <a:chExt cx="4084363" cy="1270001"/>
          </a:xfrm>
        </p:grpSpPr>
        <p:sp>
          <p:nvSpPr>
            <p:cNvPr id="227" name="四角形"/>
            <p:cNvSpPr/>
            <p:nvPr/>
          </p:nvSpPr>
          <p:spPr>
            <a:xfrm>
              <a:off x="-1" y="-1"/>
              <a:ext cx="4084365" cy="1270003"/>
            </a:xfrm>
            <a:prstGeom prst="rect">
              <a:avLst/>
            </a:prstGeom>
            <a:solidFill>
              <a:srgbClr val="89FA4E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b="0" sz="3200">
                  <a:latin typeface="+mn-lt"/>
                  <a:ea typeface="+mn-ea"/>
                  <a:cs typeface="+mn-cs"/>
                  <a:sym typeface="ヒラギノ角ゴ ProN W3"/>
                </a:defRPr>
              </a:pPr>
            </a:p>
          </p:txBody>
        </p:sp>
        <p:sp>
          <p:nvSpPr>
            <p:cNvPr id="228" name="利用者の オンプレ・クラウド"/>
            <p:cNvSpPr txBox="1"/>
            <p:nvPr/>
          </p:nvSpPr>
          <p:spPr>
            <a:xfrm>
              <a:off x="12699" y="38100"/>
              <a:ext cx="4058965" cy="1193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b="0" sz="3200">
                  <a:latin typeface="+mn-lt"/>
                  <a:ea typeface="+mn-ea"/>
                  <a:cs typeface="+mn-cs"/>
                  <a:sym typeface="ヒラギノ角ゴ ProN W3"/>
                </a:defRPr>
              </a:pPr>
              <a:r>
                <a:t> 利用者の</a:t>
              </a:r>
              <a:br/>
              <a:r>
                <a:t>オンプレ・クラウド</a:t>
              </a:r>
            </a:p>
          </p:txBody>
        </p:sp>
      </p:grpSp>
      <p:grpSp>
        <p:nvGrpSpPr>
          <p:cNvPr id="232" name="AWS…"/>
          <p:cNvGrpSpPr/>
          <p:nvPr/>
        </p:nvGrpSpPr>
        <p:grpSpPr>
          <a:xfrm>
            <a:off x="16411970" y="10908854"/>
            <a:ext cx="3588136" cy="1364608"/>
            <a:chOff x="0" y="0"/>
            <a:chExt cx="3588135" cy="1364607"/>
          </a:xfrm>
        </p:grpSpPr>
        <p:sp>
          <p:nvSpPr>
            <p:cNvPr id="230" name="四角形"/>
            <p:cNvSpPr/>
            <p:nvPr/>
          </p:nvSpPr>
          <p:spPr>
            <a:xfrm rot="21583301">
              <a:off x="3251" y="8691"/>
              <a:ext cx="3581633" cy="1347225"/>
            </a:xfrm>
            <a:prstGeom prst="rect">
              <a:avLst/>
            </a:prstGeom>
            <a:solidFill>
              <a:srgbClr val="56C1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b="0" sz="3200">
                  <a:latin typeface="+mn-lt"/>
                  <a:ea typeface="+mn-ea"/>
                  <a:cs typeface="+mn-cs"/>
                  <a:sym typeface="ヒラギノ角ゴ ProN W3"/>
                </a:defRPr>
              </a:pPr>
            </a:p>
          </p:txBody>
        </p:sp>
        <p:sp>
          <p:nvSpPr>
            <p:cNvPr id="231" name="AWS…"/>
            <p:cNvSpPr txBox="1"/>
            <p:nvPr/>
          </p:nvSpPr>
          <p:spPr>
            <a:xfrm rot="21583301">
              <a:off x="15951" y="148903"/>
              <a:ext cx="3556233" cy="1066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b="0" sz="3200">
                  <a:latin typeface="+mn-lt"/>
                  <a:ea typeface="+mn-ea"/>
                  <a:cs typeface="+mn-cs"/>
                  <a:sym typeface="ヒラギノ角ゴ ProN W3"/>
                </a:defRPr>
              </a:pPr>
              <a:r>
                <a:t>AWS</a:t>
              </a:r>
            </a:p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b="0" sz="3200">
                  <a:latin typeface="+mn-lt"/>
                  <a:ea typeface="+mn-ea"/>
                  <a:cs typeface="+mn-cs"/>
                  <a:sym typeface="ヒラギノ角ゴ ProN W3"/>
                </a:defRPr>
              </a:pPr>
              <a:r>
                <a:t>※Muleが管理</a:t>
              </a:r>
            </a:p>
          </p:txBody>
        </p:sp>
      </p:grpSp>
      <p:sp>
        <p:nvSpPr>
          <p:cNvPr id="233" name="図形"/>
          <p:cNvSpPr/>
          <p:nvPr/>
        </p:nvSpPr>
        <p:spPr>
          <a:xfrm flipH="1">
            <a:off x="15072816" y="7718549"/>
            <a:ext cx="4077463" cy="24908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888" y="14911"/>
                </a:moveTo>
                <a:lnTo>
                  <a:pt x="15544" y="21600"/>
                </a:lnTo>
                <a:lnTo>
                  <a:pt x="21600" y="10755"/>
                </a:lnTo>
                <a:lnTo>
                  <a:pt x="15342" y="0"/>
                </a:lnTo>
                <a:lnTo>
                  <a:pt x="16781" y="6240"/>
                </a:lnTo>
                <a:lnTo>
                  <a:pt x="0" y="6456"/>
                </a:lnTo>
                <a:lnTo>
                  <a:pt x="0" y="15054"/>
                </a:lnTo>
                <a:lnTo>
                  <a:pt x="16888" y="14911"/>
                </a:lnTo>
                <a:close/>
              </a:path>
            </a:pathLst>
          </a:custGeom>
          <a:solidFill>
            <a:schemeClr val="accent1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indent="457200" defTabSz="825500">
              <a:lnSpc>
                <a:spcPct val="100000"/>
              </a:lnSpc>
              <a:spcBef>
                <a:spcPts val="0"/>
              </a:spcBef>
              <a:defRPr b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ヒラギノ角ゴ ProN W3"/>
              </a:defRPr>
            </a:pPr>
          </a:p>
        </p:txBody>
      </p:sp>
      <p:sp>
        <p:nvSpPr>
          <p:cNvPr id="234" name="Muleアプリを管理"/>
          <p:cNvSpPr txBox="1"/>
          <p:nvPr/>
        </p:nvSpPr>
        <p:spPr>
          <a:xfrm>
            <a:off x="15380526" y="8666736"/>
            <a:ext cx="3709116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ヒラギノ角ゴ ProN W3"/>
              </a:defRPr>
            </a:lvl1pPr>
          </a:lstStyle>
          <a:p>
            <a:pPr/>
            <a:r>
              <a:t>Muleアプリを管理</a:t>
            </a:r>
          </a:p>
        </p:txBody>
      </p:sp>
      <p:grpSp>
        <p:nvGrpSpPr>
          <p:cNvPr id="237" name="※「ObjectStore」と「Anypoint MQ」はMuleが管理だが、どちらのPlaneか微妙"/>
          <p:cNvGrpSpPr/>
          <p:nvPr/>
        </p:nvGrpSpPr>
        <p:grpSpPr>
          <a:xfrm>
            <a:off x="7232186" y="12724907"/>
            <a:ext cx="16789583" cy="798411"/>
            <a:chOff x="0" y="-1"/>
            <a:chExt cx="16789582" cy="798410"/>
          </a:xfrm>
        </p:grpSpPr>
        <p:sp>
          <p:nvSpPr>
            <p:cNvPr id="235" name="四角形"/>
            <p:cNvSpPr/>
            <p:nvPr/>
          </p:nvSpPr>
          <p:spPr>
            <a:xfrm rot="21583301">
              <a:off x="1642" y="40766"/>
              <a:ext cx="16786298" cy="716875"/>
            </a:xfrm>
            <a:prstGeom prst="rect">
              <a:avLst/>
            </a:prstGeom>
            <a:solidFill>
              <a:srgbClr val="56C1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b="0" sz="3200">
                  <a:latin typeface="+mn-lt"/>
                  <a:ea typeface="+mn-ea"/>
                  <a:cs typeface="+mn-cs"/>
                  <a:sym typeface="ヒラギノ角ゴ ProN W3"/>
                </a:defRPr>
              </a:pPr>
            </a:p>
          </p:txBody>
        </p:sp>
        <p:sp>
          <p:nvSpPr>
            <p:cNvPr id="236" name="※「ObjectStore」と「Anypoint MQ」はMuleが管理だが、どちらのPlaneか微妙"/>
            <p:cNvSpPr txBox="1"/>
            <p:nvPr/>
          </p:nvSpPr>
          <p:spPr>
            <a:xfrm rot="21583301">
              <a:off x="14342" y="107103"/>
              <a:ext cx="16760898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b="0" sz="3200">
                  <a:latin typeface="+mn-lt"/>
                  <a:ea typeface="+mn-ea"/>
                  <a:cs typeface="+mn-cs"/>
                  <a:sym typeface="ヒラギノ角ゴ ProN W3"/>
                </a:defRPr>
              </a:lvl1pPr>
            </a:lstStyle>
            <a:p>
              <a:pPr/>
              <a:r>
                <a:t>※「ObjectStore」と「Anypoint MQ」はMuleが管理だが、どちらのPlaneか微妙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3. Mule Runtimeの内部構造と拡張性（3分）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65187">
              <a:defRPr spc="-199" sz="8200"/>
            </a:lvl1pPr>
          </a:lstStyle>
          <a:p>
            <a:pPr/>
            <a:r>
              <a:t>3. Mule Runtimeの内部構造と拡張性（3分）</a:t>
            </a:r>
          </a:p>
        </p:txBody>
      </p:sp>
      <p:sp>
        <p:nvSpPr>
          <p:cNvPr id="240" name="スライドのサブタイトル"/>
          <p:cNvSpPr txBox="1"/>
          <p:nvPr>
            <p:ph type="body" sz="quarter" idx="1"/>
          </p:nvPr>
        </p:nvSpPr>
        <p:spPr>
          <a:xfrm>
            <a:off x="1206500" y="2372961"/>
            <a:ext cx="21971000" cy="93478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1" name="JVMベースのランタイム： Mule RuntimeはJava仮想マシン上で動作。Javaエンジニアにとってのデバッグ・チューニングの親和性。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353568" indent="-353568" defTabSz="1414235">
              <a:spcBef>
                <a:spcPts val="2600"/>
              </a:spcBef>
              <a:defRPr sz="2700"/>
            </a:pPr>
            <a:r>
              <a:t>JVMベースのランタイム： Mule RuntimeはJava仮想マシン上で動作。Javaエンジニアにとってのデバッグ・チューニングの親和性。</a:t>
            </a:r>
          </a:p>
          <a:p>
            <a:pPr marL="353568" indent="-353568" defTabSz="1414235">
              <a:spcBef>
                <a:spcPts val="2600"/>
              </a:spcBef>
              <a:defRPr sz="2700"/>
            </a:pPr>
            <a:r>
              <a:t>Anypoint Studioによる開発：  EclipseベースのIDEで開発。フローの可視化とXMLベースのコード管理を両立。</a:t>
            </a:r>
          </a:p>
          <a:p>
            <a:pPr lvl="1" marL="707136" indent="-353568" defTabSz="1414235">
              <a:spcBef>
                <a:spcPts val="2600"/>
              </a:spcBef>
              <a:defRPr sz="2700"/>
            </a:pPr>
            <a:r>
              <a:t>Mavenでのビルドと、JUnitライクなテストフレームワーク「MUnit」が提供される。</a:t>
            </a:r>
          </a:p>
          <a:p>
            <a:pPr marL="353568" indent="-353568" defTabSz="1414235">
              <a:spcBef>
                <a:spcPts val="2600"/>
              </a:spcBef>
              <a:defRPr sz="2700"/>
            </a:pPr>
            <a:r>
              <a:t>SDK and Custom Connectors： Mule SDK (Java) を用いて、独自のビジネスロジックやレガシープロトコルをMuleが提供する標準コネクタと同様のインターフェースでラップすることで、GUIでドラッグ＆ドロップして利用可能。</a:t>
            </a:r>
          </a:p>
          <a:p>
            <a:pPr marL="353568" indent="-353568" defTabSz="1414235">
              <a:spcBef>
                <a:spcPts val="2600"/>
              </a:spcBef>
              <a:defRPr sz="2700"/>
            </a:pPr>
            <a:r>
              <a:t>DataWeave 2.0（データ変換エンジン）：  関数型言語の採用：JSON/XML/Java/CSVを透過的に扱う。</a:t>
            </a:r>
          </a:p>
          <a:p>
            <a:pPr lvl="1" marL="707136" indent="-353568" defTabSz="1414235">
              <a:spcBef>
                <a:spcPts val="2600"/>
              </a:spcBef>
              <a:defRPr sz="2700"/>
            </a:pPr>
            <a:r>
              <a:t>使用する箇所：Spring Framework の Spring EL式に相当するが、それよりも広範囲で使う。</a:t>
            </a:r>
          </a:p>
          <a:p>
            <a:pPr lvl="1" marL="707136" indent="-353568" defTabSz="1414235">
              <a:spcBef>
                <a:spcPts val="2600"/>
              </a:spcBef>
              <a:defRPr sz="2700"/>
            </a:pPr>
            <a:r>
              <a:t>メリット： SQLのように宣言的で簡潔な記述が可能。ネストした複雑なJavaオブジェクトの変換も、mapやfilterで直感的に実装できる。</a:t>
            </a:r>
          </a:p>
          <a:p>
            <a:pPr lvl="1" marL="707136" indent="-353568" defTabSz="1414235">
              <a:spcBef>
                <a:spcPts val="2600"/>
              </a:spcBef>
              <a:defRPr sz="2700"/>
            </a:pPr>
            <a:r>
              <a:t>デメリット： Java（手続き型）のみに慣れた人にはパラダイムシフトが必要で、ループや変数再代入ができない等の制約が当初は取っ付きづらい。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4. デプロイメント・トポロジーとスケーラビリティ（2分）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853137">
              <a:defRPr spc="-200" sz="6400"/>
            </a:lvl1pPr>
          </a:lstStyle>
          <a:p>
            <a:pPr/>
            <a:r>
              <a:t>4. デプロイメント・トポロジーとスケーラビリティ（2分）</a:t>
            </a:r>
          </a:p>
        </p:txBody>
      </p:sp>
      <p:sp>
        <p:nvSpPr>
          <p:cNvPr id="244" name="スライドのサブタイトル"/>
          <p:cNvSpPr txBox="1"/>
          <p:nvPr>
            <p:ph type="body" sz="quarter" idx="1"/>
          </p:nvPr>
        </p:nvSpPr>
        <p:spPr>
          <a:xfrm>
            <a:off x="1206500" y="2372961"/>
            <a:ext cx="21971000" cy="93478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5" name="クラウド 【MuleSoft イチオシ】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365759" indent="-365759" defTabSz="1463003">
              <a:spcBef>
                <a:spcPts val="2700"/>
              </a:spcBef>
              <a:defRPr sz="2800"/>
            </a:pPr>
            <a:r>
              <a:t>  クラウド 【MuleSoft イチオシ】</a:t>
            </a:r>
          </a:p>
          <a:p>
            <a:pPr lvl="1" marL="731519" indent="-365759" defTabSz="1463003">
              <a:spcBef>
                <a:spcPts val="2700"/>
              </a:spcBef>
              <a:defRPr sz="2800"/>
            </a:pPr>
            <a:r>
              <a:t>CloudHub とCloudHub2： MuleSoftが管理するAWS上へ、Muleアプリケーションをデプロイする形態。</a:t>
            </a:r>
          </a:p>
          <a:p>
            <a:pPr marL="365759" indent="-365759" defTabSz="1463003">
              <a:spcBef>
                <a:spcPts val="2700"/>
              </a:spcBef>
              <a:defRPr sz="2800"/>
            </a:pPr>
            <a:r>
              <a:t>  オンプレミス/ハイブリッド：  </a:t>
            </a:r>
          </a:p>
          <a:p>
            <a:pPr lvl="1" marL="731519" indent="-365759" defTabSz="1463003">
              <a:spcBef>
                <a:spcPts val="2700"/>
              </a:spcBef>
              <a:defRPr sz="2800"/>
            </a:pPr>
            <a:r>
              <a:t>PCE (Private Cloud Edition)： コントロールプレーンとランタイムプレーンの両方をオンプレミスで実行。</a:t>
            </a:r>
          </a:p>
          <a:p>
            <a:pPr lvl="1" marL="731519" indent="-365759" defTabSz="1463003">
              <a:spcBef>
                <a:spcPts val="2700"/>
              </a:spcBef>
              <a:defRPr sz="2800"/>
            </a:pPr>
            <a:r>
              <a:t>RTF (Anypoint Runtime Fabric)： コントロールプレーンはMuleSoftのクラウドを利用し、ランタイムプレーンのみをオンプレミスで動かすハイブリッド構成。</a:t>
            </a:r>
          </a:p>
          <a:p>
            <a:pPr lvl="1" marL="731519" indent="-365759" defTabSz="1463003">
              <a:spcBef>
                <a:spcPts val="2700"/>
              </a:spcBef>
              <a:defRPr sz="2800"/>
            </a:pPr>
            <a:r>
              <a:t>スタンドアローン： Kubernetest無しMuleアプリを稼働させる形態。コントロールプレーン無しも可能。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5. マイクロサービス・ガバナンス（1分）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5. マイクロサービス・ガバナンス（1分）</a:t>
            </a:r>
          </a:p>
        </p:txBody>
      </p:sp>
      <p:sp>
        <p:nvSpPr>
          <p:cNvPr id="248" name="スライドのサブタイトル"/>
          <p:cNvSpPr txBox="1"/>
          <p:nvPr>
            <p:ph type="body" sz="quarter" idx="1"/>
          </p:nvPr>
        </p:nvSpPr>
        <p:spPr>
          <a:xfrm>
            <a:off x="1206500" y="2372961"/>
            <a:ext cx="21971000" cy="93478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9" name="API Manager： レート制限やOAuth2.0等の機能を、「APIポリシー」として、実装コードに触れず動的に適用。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API Manager： レート制限やOAuth2.0等の機能を、「APIポリシー」として、実装コードに触れず動的に適用。</a:t>
            </a:r>
          </a:p>
          <a:p>
            <a:pPr lvl="1"/>
            <a:r>
              <a:t>Jakarta Servletの Filter が、warファイルから独立して管理できる感じ。</a:t>
            </a:r>
          </a:p>
          <a:p>
            <a:pPr/>
            <a:r>
              <a:t>サービスメッシュ的アプローチ： 各APIが独立したライフサイクルを持つマイクロサービス群として機能。</a:t>
            </a:r>
          </a:p>
          <a:p>
            <a:pPr lvl="1"/>
            <a:r>
              <a:t>RPA同様。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6. 現場開発者から見た真のメリデメ（？分）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6. 現場開発者から見た真のメリデメ（？分）</a:t>
            </a:r>
          </a:p>
        </p:txBody>
      </p:sp>
      <p:sp>
        <p:nvSpPr>
          <p:cNvPr id="252" name="スライドのサブタイトル"/>
          <p:cNvSpPr txBox="1"/>
          <p:nvPr>
            <p:ph type="body" sz="quarter" idx="1"/>
          </p:nvPr>
        </p:nvSpPr>
        <p:spPr>
          <a:xfrm>
            <a:off x="1206500" y="2372961"/>
            <a:ext cx="21971000" cy="93478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3" name="メリット：生産性と品質の標準化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292606" indent="-292606" defTabSz="1170402">
              <a:spcBef>
                <a:spcPts val="2100"/>
              </a:spcBef>
              <a:defRPr sz="2300"/>
            </a:pPr>
            <a:r>
              <a:t>メリット：生産性と品質の標準化</a:t>
            </a:r>
          </a:p>
          <a:p>
            <a:pPr lvl="1" marL="585215" indent="-292606" defTabSz="1170402">
              <a:spcBef>
                <a:spcPts val="2100"/>
              </a:spcBef>
              <a:defRPr sz="2300"/>
            </a:pPr>
            <a:r>
              <a:t>ローコードによるTTR（Time To Release）の短縮。</a:t>
            </a:r>
          </a:p>
          <a:p>
            <a:pPr lvl="1" marL="585215" indent="-292606" defTabSz="1170402">
              <a:spcBef>
                <a:spcPts val="2100"/>
              </a:spcBef>
              <a:defRPr sz="2300"/>
            </a:pPr>
            <a:r>
              <a:t>複雑な変換はDataWeaveで簡潔に、特殊な処理はJavaで柔軟に書ける「いいとこ取り」。</a:t>
            </a:r>
          </a:p>
          <a:p>
            <a:pPr lvl="1" marL="585215" indent="-292606" defTabSz="1170402">
              <a:spcBef>
                <a:spcPts val="2100"/>
              </a:spcBef>
              <a:defRPr sz="2300"/>
            </a:pPr>
            <a:r>
              <a:t>運用の自動化： 毎月パッチが強制適用されるため、セキュリティ対応をプラットフォーム側にお任せできる。</a:t>
            </a:r>
          </a:p>
          <a:p>
            <a:pPr lvl="1" marL="585215" indent="-292606" defTabSz="1170402">
              <a:spcBef>
                <a:spcPts val="2100"/>
              </a:spcBef>
              <a:defRPr sz="2300"/>
            </a:pPr>
            <a:r>
              <a:t>ライブラリ管理の簡略化： OSSライブラリも自動でバージョンアップされるため、個別に上げるか上げないか悩む必要がない。具体的には、「回帰試験をするか、あるいはリスクを許容してお任せで試験しないか」という判断のみに集中できる。</a:t>
            </a:r>
          </a:p>
          <a:p>
            <a:pPr marL="292606" indent="-292606" defTabSz="1170402">
              <a:spcBef>
                <a:spcPts val="2100"/>
              </a:spcBef>
              <a:defRPr sz="2300"/>
            </a:pPr>
            <a:r>
              <a:t>デメリット：コスト・スキルの壁と製品思想</a:t>
            </a:r>
          </a:p>
          <a:p>
            <a:pPr lvl="1" marL="585215" indent="-292606" defTabSz="1170402">
              <a:spcBef>
                <a:spcPts val="2100"/>
              </a:spcBef>
              <a:defRPr sz="2300"/>
            </a:pPr>
            <a:r>
              <a:t>高額な費用： 最小限の契約でも、そこそこコストが発生する。</a:t>
            </a:r>
          </a:p>
          <a:p>
            <a:pPr lvl="1" marL="585215" indent="-292606" defTabSz="1170402">
              <a:spcBef>
                <a:spcPts val="2100"/>
              </a:spcBef>
              <a:defRPr sz="2300"/>
            </a:pPr>
            <a:r>
              <a:t>API管理機能の限定： Kong等の専門ツールに比べると機能は一般的。これは多機能ゆえの迷いを避ける意図もあり、「足りない場合はJavaで自作してね」というスタンス。</a:t>
            </a:r>
          </a:p>
          <a:p>
            <a:pPr lvl="1" marL="585215" indent="-292606" defTabSz="1170402">
              <a:spcBef>
                <a:spcPts val="2100"/>
              </a:spcBef>
              <a:defRPr sz="2300"/>
            </a:pPr>
            <a:r>
              <a:t>Java開発経験が必須： ローコードを標榜しているが、エラー時にはスタックトレースが直接出力される。ビルドはMavenベースのため、ビルドエラー解決にも知識が必要。アプリ内はJavaで逃げ道がある一方、クラウド側の設定項目は少なく、結局Javaエンジニアの手が必要。</a:t>
            </a:r>
          </a:p>
          <a:p>
            <a:pPr lvl="1" marL="585215" indent="-292606" defTabSz="1170402">
              <a:spcBef>
                <a:spcPts val="2100"/>
              </a:spcBef>
              <a:defRPr sz="2300"/>
            </a:pPr>
            <a:r>
              <a:t>思想の強さ： MuleSoftが考えるベストプラティクスから外れる設計は、途端に面倒になる。「高額なのに、あれもできない、これもできない」となり得る。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P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TPS</a:t>
            </a:r>
          </a:p>
        </p:txBody>
      </p:sp>
      <p:sp>
        <p:nvSpPr>
          <p:cNvPr id="256" name="スライドのサブタイトル"/>
          <p:cNvSpPr txBox="1"/>
          <p:nvPr>
            <p:ph type="body" sz="quarter" idx="1"/>
          </p:nvPr>
        </p:nvSpPr>
        <p:spPr>
          <a:xfrm>
            <a:off x="1206500" y="2372961"/>
            <a:ext cx="21971000" cy="93478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7" name="スライドの箇条書きテキスト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"/>
        <a:ea typeface="Helvetica"/>
        <a:cs typeface="Helvetica"/>
      </a:majorFont>
      <a:minorFont>
        <a:latin typeface="ヒラギノ角ゴ ProN W3"/>
        <a:ea typeface="ヒラギノ角ゴ ProN W3"/>
        <a:cs typeface="ヒラギノ角ゴ ProN W3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ヒラギノ角ゴ ProN W6"/>
            <a:ea typeface="ヒラギノ角ゴ ProN W6"/>
            <a:cs typeface="ヒラギノ角ゴ ProN W6"/>
            <a:sym typeface="ヒラギノ角ゴ ProN W6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ヒラギノ角ゴ ProN W6"/>
            <a:ea typeface="ヒラギノ角ゴ ProN W6"/>
            <a:cs typeface="ヒラギノ角ゴ ProN W6"/>
            <a:sym typeface="ヒラギノ角ゴ ProN W6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"/>
        <a:ea typeface="Helvetica"/>
        <a:cs typeface="Helvetica"/>
      </a:majorFont>
      <a:minorFont>
        <a:latin typeface="ヒラギノ角ゴ ProN W3"/>
        <a:ea typeface="ヒラギノ角ゴ ProN W3"/>
        <a:cs typeface="ヒラギノ角ゴ ProN W3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ヒラギノ角ゴ ProN W6"/>
            <a:ea typeface="ヒラギノ角ゴ ProN W6"/>
            <a:cs typeface="ヒラギノ角ゴ ProN W6"/>
            <a:sym typeface="ヒラギノ角ゴ ProN W6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ヒラギノ角ゴ ProN W6"/>
            <a:ea typeface="ヒラギノ角ゴ ProN W6"/>
            <a:cs typeface="ヒラギノ角ゴ ProN W6"/>
            <a:sym typeface="ヒラギノ角ゴ ProN W6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